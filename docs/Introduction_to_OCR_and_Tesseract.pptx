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599" y="2060377"/>
            <a:ext cx="7477601" cy="18037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7101"/>
              </a:lnSpc>
              <a:buNone/>
            </a:pPr>
            <a:r>
              <a:rPr lang="en-US" sz="5681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Introduction to OCR and Tesseract</a:t>
            </a:r>
            <a:endParaRPr lang="en-US" sz="5681" dirty="0"/>
          </a:p>
        </p:txBody>
      </p:sp>
      <p:sp>
        <p:nvSpPr>
          <p:cNvPr id="6" name="Text 3"/>
          <p:cNvSpPr/>
          <p:nvPr/>
        </p:nvSpPr>
        <p:spPr>
          <a:xfrm>
            <a:off x="6319599" y="4197429"/>
            <a:ext cx="747760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Optical Character Recognition (OCR) is a powerful technology that allows computers to digitize and extract text from images and documents. Tesseract is a widely-used, open-source OCR engine that can recognize text in a variety of languages, including the complex Telugu script.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319599" y="5797034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219" y="5804654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6086" y="5780365"/>
            <a:ext cx="3471029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062"/>
              </a:lnSpc>
              <a:buNone/>
            </a:pPr>
            <a:r>
              <a:rPr lang="en-US" sz="2187" b="1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by Mohan Krishna Madarapu</a:t>
            </a:r>
            <a:endParaRPr lang="en-US" sz="2187" dirty="0"/>
          </a:p>
        </p:txBody>
      </p:sp>
      <p:pic>
        <p:nvPicPr>
          <p:cNvPr id="10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1800582"/>
            <a:ext cx="8937427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146"/>
              </a:lnSpc>
              <a:buNone/>
            </a:pPr>
            <a:r>
              <a:rPr lang="en-US" sz="411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Challenges of Telugu Text Extraction</a:t>
            </a:r>
            <a:endParaRPr lang="en-US" sz="4117" dirty="0"/>
          </a:p>
        </p:txBody>
      </p:sp>
      <p:sp>
        <p:nvSpPr>
          <p:cNvPr id="6" name="Shape 3"/>
          <p:cNvSpPr/>
          <p:nvPr/>
        </p:nvSpPr>
        <p:spPr>
          <a:xfrm>
            <a:off x="4490799" y="3037165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363A4A"/>
          </a:solidFill>
          <a:ln/>
        </p:spPr>
      </p:sp>
      <p:sp>
        <p:nvSpPr>
          <p:cNvPr id="7" name="Text 4"/>
          <p:cNvSpPr/>
          <p:nvPr/>
        </p:nvSpPr>
        <p:spPr>
          <a:xfrm>
            <a:off x="4683681" y="3130272"/>
            <a:ext cx="114181" cy="313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2470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470" dirty="0"/>
          </a:p>
        </p:txBody>
      </p:sp>
      <p:sp>
        <p:nvSpPr>
          <p:cNvPr id="8" name="Text 5"/>
          <p:cNvSpPr/>
          <p:nvPr/>
        </p:nvSpPr>
        <p:spPr>
          <a:xfrm>
            <a:off x="5212913" y="3037165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Complex Script</a:t>
            </a:r>
            <a:endParaRPr lang="en-US" sz="2058" dirty="0"/>
          </a:p>
        </p:txBody>
      </p:sp>
      <p:sp>
        <p:nvSpPr>
          <p:cNvPr id="9" name="Text 6"/>
          <p:cNvSpPr/>
          <p:nvPr/>
        </p:nvSpPr>
        <p:spPr>
          <a:xfrm>
            <a:off x="5212913" y="3497223"/>
            <a:ext cx="382000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Telugu language has a unique script with many characters and complex ligatures, making it challenging for OCR systems to accurately recognize.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255085" y="3037165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363A4A"/>
          </a:solidFill>
          <a:ln/>
        </p:spPr>
      </p:sp>
      <p:sp>
        <p:nvSpPr>
          <p:cNvPr id="11" name="Text 8"/>
          <p:cNvSpPr/>
          <p:nvPr/>
        </p:nvSpPr>
        <p:spPr>
          <a:xfrm>
            <a:off x="9420820" y="3130272"/>
            <a:ext cx="168473" cy="313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2470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470" dirty="0"/>
          </a:p>
        </p:txBody>
      </p:sp>
      <p:sp>
        <p:nvSpPr>
          <p:cNvPr id="12" name="Text 9"/>
          <p:cNvSpPr/>
          <p:nvPr/>
        </p:nvSpPr>
        <p:spPr>
          <a:xfrm>
            <a:off x="9977199" y="3037165"/>
            <a:ext cx="3664863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Lack of Standardized Datasets</a:t>
            </a:r>
            <a:endParaRPr lang="en-US" sz="2058" dirty="0"/>
          </a:p>
        </p:txBody>
      </p:sp>
      <p:sp>
        <p:nvSpPr>
          <p:cNvPr id="13" name="Text 10"/>
          <p:cNvSpPr/>
          <p:nvPr/>
        </p:nvSpPr>
        <p:spPr>
          <a:xfrm>
            <a:off x="9977199" y="3497223"/>
            <a:ext cx="382000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High-quality datasets of Telugu text images are scarce, hindering the development and training of accurate OCR models.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4490799" y="5302329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363A4A"/>
          </a:solidFill>
          <a:ln/>
        </p:spPr>
      </p:sp>
      <p:sp>
        <p:nvSpPr>
          <p:cNvPr id="15" name="Text 12"/>
          <p:cNvSpPr/>
          <p:nvPr/>
        </p:nvSpPr>
        <p:spPr>
          <a:xfrm>
            <a:off x="4653320" y="5395436"/>
            <a:ext cx="174784" cy="3137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470"/>
              </a:lnSpc>
              <a:buNone/>
            </a:pPr>
            <a:r>
              <a:rPr lang="en-US" sz="2470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470" dirty="0"/>
          </a:p>
        </p:txBody>
      </p:sp>
      <p:sp>
        <p:nvSpPr>
          <p:cNvPr id="16" name="Text 13"/>
          <p:cNvSpPr/>
          <p:nvPr/>
        </p:nvSpPr>
        <p:spPr>
          <a:xfrm>
            <a:off x="5212913" y="5302329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Varied Font Styles</a:t>
            </a:r>
            <a:endParaRPr lang="en-US" sz="2058" dirty="0"/>
          </a:p>
        </p:txBody>
      </p:sp>
      <p:sp>
        <p:nvSpPr>
          <p:cNvPr id="17" name="Text 14"/>
          <p:cNvSpPr/>
          <p:nvPr/>
        </p:nvSpPr>
        <p:spPr>
          <a:xfrm>
            <a:off x="5212913" y="5762387"/>
            <a:ext cx="8584287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Telugu text appears in a wide range of font types and styles, further complicating the task of recognition.</a:t>
            </a:r>
            <a:endParaRPr lang="en-US" sz="1750" dirty="0"/>
          </a:p>
        </p:txBody>
      </p:sp>
      <p:pic>
        <p:nvPicPr>
          <p:cNvPr id="18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2348389" y="2302788"/>
            <a:ext cx="5307568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146"/>
              </a:lnSpc>
              <a:buNone/>
            </a:pPr>
            <a:r>
              <a:rPr lang="en-US" sz="411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Preparing the Dataset</a:t>
            </a:r>
            <a:endParaRPr lang="en-US" sz="4117" dirty="0"/>
          </a:p>
        </p:txBody>
      </p:sp>
      <p:sp>
        <p:nvSpPr>
          <p:cNvPr id="5" name="Text 3"/>
          <p:cNvSpPr/>
          <p:nvPr/>
        </p:nvSpPr>
        <p:spPr>
          <a:xfrm>
            <a:off x="2348389" y="3511629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Collection</a:t>
            </a:r>
            <a:endParaRPr lang="en-US" sz="2058" dirty="0"/>
          </a:p>
        </p:txBody>
      </p:sp>
      <p:sp>
        <p:nvSpPr>
          <p:cNvPr id="6" name="Text 4"/>
          <p:cNvSpPr/>
          <p:nvPr/>
        </p:nvSpPr>
        <p:spPr>
          <a:xfrm>
            <a:off x="2348389" y="4060627"/>
            <a:ext cx="2949416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Gather a diverse set of Telugu text images from various sources, including books, websites, and scanned documents.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847398" y="3511629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Annotation</a:t>
            </a:r>
            <a:endParaRPr lang="en-US" sz="2058" dirty="0"/>
          </a:p>
        </p:txBody>
      </p:sp>
      <p:sp>
        <p:nvSpPr>
          <p:cNvPr id="8" name="Text 6"/>
          <p:cNvSpPr/>
          <p:nvPr/>
        </p:nvSpPr>
        <p:spPr>
          <a:xfrm>
            <a:off x="5847398" y="4060627"/>
            <a:ext cx="2949416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Manually label the text in the images to create a ground truth dataset for training and evaluating the OCR model.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346406" y="3511629"/>
            <a:ext cx="2709148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Augmentation</a:t>
            </a:r>
            <a:endParaRPr lang="en-US" sz="2058" dirty="0"/>
          </a:p>
        </p:txBody>
      </p:sp>
      <p:sp>
        <p:nvSpPr>
          <p:cNvPr id="10" name="Text 8"/>
          <p:cNvSpPr/>
          <p:nvPr/>
        </p:nvSpPr>
        <p:spPr>
          <a:xfrm>
            <a:off x="9346406" y="4060627"/>
            <a:ext cx="2949416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Apply data augmentation techniques, such as rotation, scaling, and noise addition, to increase the size and diversity of the training dataset.</a:t>
            </a:r>
            <a:endParaRPr lang="en-US" sz="1750" dirty="0"/>
          </a:p>
        </p:txBody>
      </p:sp>
      <p:pic>
        <p:nvPicPr>
          <p:cNvPr id="1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1148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88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44428" y="2913698"/>
            <a:ext cx="5376505" cy="5619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4425"/>
              </a:lnSpc>
              <a:buNone/>
            </a:pPr>
            <a:r>
              <a:rPr lang="en-US" sz="3540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Preprocessing the Images</a:t>
            </a:r>
            <a:endParaRPr lang="en-US" sz="3540" dirty="0"/>
          </a:p>
        </p:txBody>
      </p:sp>
      <p:sp>
        <p:nvSpPr>
          <p:cNvPr id="6" name="Shape 3"/>
          <p:cNvSpPr/>
          <p:nvPr/>
        </p:nvSpPr>
        <p:spPr>
          <a:xfrm>
            <a:off x="3044428" y="5877282"/>
            <a:ext cx="8541544" cy="23813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7" name="Shape 4"/>
          <p:cNvSpPr/>
          <p:nvPr/>
        </p:nvSpPr>
        <p:spPr>
          <a:xfrm>
            <a:off x="5120164" y="5208627"/>
            <a:ext cx="23812" cy="668655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8" name="Shape 5"/>
          <p:cNvSpPr/>
          <p:nvPr/>
        </p:nvSpPr>
        <p:spPr>
          <a:xfrm>
            <a:off x="4917162" y="5662374"/>
            <a:ext cx="429816" cy="429816"/>
          </a:xfrm>
          <a:prstGeom prst="roundRect">
            <a:avLst>
              <a:gd name="adj" fmla="val 13336"/>
            </a:avLst>
          </a:prstGeom>
          <a:solidFill>
            <a:srgbClr val="363A4A"/>
          </a:solidFill>
          <a:ln/>
        </p:spPr>
      </p:sp>
      <p:sp>
        <p:nvSpPr>
          <p:cNvPr id="9" name="Text 6"/>
          <p:cNvSpPr/>
          <p:nvPr/>
        </p:nvSpPr>
        <p:spPr>
          <a:xfrm>
            <a:off x="5082897" y="5742384"/>
            <a:ext cx="98227" cy="2696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21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124" dirty="0"/>
          </a:p>
        </p:txBody>
      </p:sp>
      <p:sp>
        <p:nvSpPr>
          <p:cNvPr id="10" name="Text 7"/>
          <p:cNvSpPr/>
          <p:nvPr/>
        </p:nvSpPr>
        <p:spPr>
          <a:xfrm>
            <a:off x="4008120" y="4048839"/>
            <a:ext cx="2247781" cy="2809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212"/>
              </a:lnSpc>
              <a:buNone/>
            </a:pPr>
            <a:r>
              <a:rPr lang="en-US" sz="1770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Binarization</a:t>
            </a:r>
            <a:endParaRPr lang="en-US" sz="1770" dirty="0"/>
          </a:p>
        </p:txBody>
      </p:sp>
      <p:sp>
        <p:nvSpPr>
          <p:cNvPr id="11" name="Text 8"/>
          <p:cNvSpPr/>
          <p:nvPr/>
        </p:nvSpPr>
        <p:spPr>
          <a:xfrm>
            <a:off x="3235404" y="4444365"/>
            <a:ext cx="3793331" cy="5731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57"/>
              </a:lnSpc>
              <a:buNone/>
            </a:pPr>
            <a:r>
              <a:rPr lang="en-US" sz="1504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Convert the input images to black and white to simplify the text extraction process.</a:t>
            </a:r>
            <a:endParaRPr lang="en-US" sz="1504" dirty="0"/>
          </a:p>
        </p:txBody>
      </p:sp>
      <p:sp>
        <p:nvSpPr>
          <p:cNvPr id="12" name="Shape 9"/>
          <p:cNvSpPr/>
          <p:nvPr/>
        </p:nvSpPr>
        <p:spPr>
          <a:xfrm>
            <a:off x="7303294" y="5877282"/>
            <a:ext cx="23812" cy="668655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7100292" y="5662374"/>
            <a:ext cx="429816" cy="429816"/>
          </a:xfrm>
          <a:prstGeom prst="roundRect">
            <a:avLst>
              <a:gd name="adj" fmla="val 13336"/>
            </a:avLst>
          </a:prstGeom>
          <a:solidFill>
            <a:srgbClr val="363A4A"/>
          </a:solidFill>
          <a:ln/>
        </p:spPr>
      </p:sp>
      <p:sp>
        <p:nvSpPr>
          <p:cNvPr id="14" name="Text 11"/>
          <p:cNvSpPr/>
          <p:nvPr/>
        </p:nvSpPr>
        <p:spPr>
          <a:xfrm>
            <a:off x="7242810" y="5742384"/>
            <a:ext cx="144780" cy="2696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21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124" dirty="0"/>
          </a:p>
        </p:txBody>
      </p:sp>
      <p:sp>
        <p:nvSpPr>
          <p:cNvPr id="15" name="Text 12"/>
          <p:cNvSpPr/>
          <p:nvPr/>
        </p:nvSpPr>
        <p:spPr>
          <a:xfrm>
            <a:off x="6191250" y="6737033"/>
            <a:ext cx="2247781" cy="2809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212"/>
              </a:lnSpc>
              <a:buNone/>
            </a:pPr>
            <a:r>
              <a:rPr lang="en-US" sz="1770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Skew Correction</a:t>
            </a:r>
            <a:endParaRPr lang="en-US" sz="1770" dirty="0"/>
          </a:p>
        </p:txBody>
      </p:sp>
      <p:sp>
        <p:nvSpPr>
          <p:cNvPr id="16" name="Text 13"/>
          <p:cNvSpPr/>
          <p:nvPr/>
        </p:nvSpPr>
        <p:spPr>
          <a:xfrm>
            <a:off x="5418534" y="7132558"/>
            <a:ext cx="3793331" cy="5731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57"/>
              </a:lnSpc>
              <a:buNone/>
            </a:pPr>
            <a:r>
              <a:rPr lang="en-US" sz="1504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Straighten the text lines to ensure accurate character alignment and recognition.</a:t>
            </a:r>
            <a:endParaRPr lang="en-US" sz="1504" dirty="0"/>
          </a:p>
        </p:txBody>
      </p:sp>
      <p:sp>
        <p:nvSpPr>
          <p:cNvPr id="17" name="Shape 14"/>
          <p:cNvSpPr/>
          <p:nvPr/>
        </p:nvSpPr>
        <p:spPr>
          <a:xfrm>
            <a:off x="9486424" y="5208627"/>
            <a:ext cx="23812" cy="668655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8" name="Shape 15"/>
          <p:cNvSpPr/>
          <p:nvPr/>
        </p:nvSpPr>
        <p:spPr>
          <a:xfrm>
            <a:off x="9283422" y="5662374"/>
            <a:ext cx="429816" cy="429816"/>
          </a:xfrm>
          <a:prstGeom prst="roundRect">
            <a:avLst>
              <a:gd name="adj" fmla="val 13336"/>
            </a:avLst>
          </a:prstGeom>
          <a:solidFill>
            <a:srgbClr val="363A4A"/>
          </a:solidFill>
          <a:ln/>
        </p:spPr>
      </p:sp>
      <p:sp>
        <p:nvSpPr>
          <p:cNvPr id="19" name="Text 16"/>
          <p:cNvSpPr/>
          <p:nvPr/>
        </p:nvSpPr>
        <p:spPr>
          <a:xfrm>
            <a:off x="9423202" y="5742384"/>
            <a:ext cx="150257" cy="2696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21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124" dirty="0"/>
          </a:p>
        </p:txBody>
      </p:sp>
      <p:sp>
        <p:nvSpPr>
          <p:cNvPr id="20" name="Text 17"/>
          <p:cNvSpPr/>
          <p:nvPr/>
        </p:nvSpPr>
        <p:spPr>
          <a:xfrm>
            <a:off x="8374380" y="3762256"/>
            <a:ext cx="2247781" cy="2809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212"/>
              </a:lnSpc>
              <a:buNone/>
            </a:pPr>
            <a:r>
              <a:rPr lang="en-US" sz="1770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Noise Removal</a:t>
            </a:r>
            <a:endParaRPr lang="en-US" sz="1770" dirty="0"/>
          </a:p>
        </p:txBody>
      </p:sp>
      <p:sp>
        <p:nvSpPr>
          <p:cNvPr id="21" name="Text 18"/>
          <p:cNvSpPr/>
          <p:nvPr/>
        </p:nvSpPr>
        <p:spPr>
          <a:xfrm>
            <a:off x="7601664" y="4157782"/>
            <a:ext cx="3793331" cy="859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57"/>
              </a:lnSpc>
              <a:buNone/>
            </a:pPr>
            <a:r>
              <a:rPr lang="en-US" sz="1504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Apply various filtering techniques to remove unwanted elements and enhance the text regions.</a:t>
            </a:r>
            <a:endParaRPr lang="en-US" sz="1504" dirty="0"/>
          </a:p>
        </p:txBody>
      </p:sp>
      <p:pic>
        <p:nvPicPr>
          <p:cNvPr id="22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2348389" y="1383983"/>
            <a:ext cx="8006239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146"/>
              </a:lnSpc>
              <a:buNone/>
            </a:pPr>
            <a:r>
              <a:rPr lang="en-US" sz="411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Configuring Tesseract for Telugu</a:t>
            </a:r>
            <a:endParaRPr lang="en-US" sz="4117" dirty="0"/>
          </a:p>
        </p:txBody>
      </p:sp>
      <p:sp>
        <p:nvSpPr>
          <p:cNvPr id="5" name="Shape 3"/>
          <p:cNvSpPr/>
          <p:nvPr/>
        </p:nvSpPr>
        <p:spPr>
          <a:xfrm>
            <a:off x="2348389" y="2481739"/>
            <a:ext cx="4855726" cy="2237423"/>
          </a:xfrm>
          <a:prstGeom prst="roundRect">
            <a:avLst>
              <a:gd name="adj" fmla="val 2979"/>
            </a:avLst>
          </a:prstGeom>
          <a:solidFill>
            <a:srgbClr val="363A4A"/>
          </a:solidFill>
          <a:ln/>
        </p:spPr>
      </p:sp>
      <p:sp>
        <p:nvSpPr>
          <p:cNvPr id="6" name="Text 4"/>
          <p:cNvSpPr/>
          <p:nvPr/>
        </p:nvSpPr>
        <p:spPr>
          <a:xfrm>
            <a:off x="2570559" y="2703909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Language Model</a:t>
            </a:r>
            <a:endParaRPr lang="en-US" sz="2058" dirty="0"/>
          </a:p>
        </p:txBody>
      </p:sp>
      <p:sp>
        <p:nvSpPr>
          <p:cNvPr id="7" name="Text 5"/>
          <p:cNvSpPr/>
          <p:nvPr/>
        </p:nvSpPr>
        <p:spPr>
          <a:xfrm>
            <a:off x="2570559" y="3163967"/>
            <a:ext cx="4411385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Train a custom language model for the Telugu script to improve Tesseract's character recognition accuracy.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481739"/>
            <a:ext cx="4855726" cy="2237423"/>
          </a:xfrm>
          <a:prstGeom prst="roundRect">
            <a:avLst>
              <a:gd name="adj" fmla="val 2979"/>
            </a:avLst>
          </a:prstGeom>
          <a:solidFill>
            <a:srgbClr val="363A4A"/>
          </a:solidFill>
          <a:ln/>
        </p:spPr>
      </p:sp>
      <p:sp>
        <p:nvSpPr>
          <p:cNvPr id="9" name="Text 7"/>
          <p:cNvSpPr/>
          <p:nvPr/>
        </p:nvSpPr>
        <p:spPr>
          <a:xfrm>
            <a:off x="7648456" y="2703909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Tesseract Engine</a:t>
            </a:r>
            <a:endParaRPr lang="en-US" sz="2058" dirty="0"/>
          </a:p>
        </p:txBody>
      </p:sp>
      <p:sp>
        <p:nvSpPr>
          <p:cNvPr id="10" name="Text 8"/>
          <p:cNvSpPr/>
          <p:nvPr/>
        </p:nvSpPr>
        <p:spPr>
          <a:xfrm>
            <a:off x="7648456" y="3163967"/>
            <a:ext cx="4411385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Customize the Tesseract engine parameters, such as the page segmentation mode and the character whitelist, to optimize performance for Telugu text.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348389" y="4941332"/>
            <a:ext cx="4855726" cy="1904167"/>
          </a:xfrm>
          <a:prstGeom prst="roundRect">
            <a:avLst>
              <a:gd name="adj" fmla="val 3501"/>
            </a:avLst>
          </a:prstGeom>
          <a:solidFill>
            <a:srgbClr val="36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570559" y="5163503"/>
            <a:ext cx="2710696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Dictionary Integration</a:t>
            </a:r>
            <a:endParaRPr lang="en-US" sz="2058" dirty="0"/>
          </a:p>
        </p:txBody>
      </p:sp>
      <p:sp>
        <p:nvSpPr>
          <p:cNvPr id="13" name="Text 11"/>
          <p:cNvSpPr/>
          <p:nvPr/>
        </p:nvSpPr>
        <p:spPr>
          <a:xfrm>
            <a:off x="2570559" y="5623560"/>
            <a:ext cx="4411385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Integrate a comprehensive Telugu dictionary to help Tesseract correct spelling errors and improve the overall text extraction quality.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941332"/>
            <a:ext cx="4855726" cy="1904167"/>
          </a:xfrm>
          <a:prstGeom prst="roundRect">
            <a:avLst>
              <a:gd name="adj" fmla="val 3501"/>
            </a:avLst>
          </a:prstGeom>
          <a:solidFill>
            <a:srgbClr val="363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648456" y="5163503"/>
            <a:ext cx="2987993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Preprocessing Workflow</a:t>
            </a:r>
            <a:endParaRPr lang="en-US" sz="2058" dirty="0"/>
          </a:p>
        </p:txBody>
      </p:sp>
      <p:sp>
        <p:nvSpPr>
          <p:cNvPr id="16" name="Text 14"/>
          <p:cNvSpPr/>
          <p:nvPr/>
        </p:nvSpPr>
        <p:spPr>
          <a:xfrm>
            <a:off x="7648456" y="5623560"/>
            <a:ext cx="4411385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 a robust preprocessing pipeline to enhance the input images and further improve the accuracy of the Telugu OCR system.</a:t>
            </a:r>
            <a:endParaRPr lang="en-US" sz="1750" dirty="0"/>
          </a:p>
        </p:txBody>
      </p:sp>
      <p:pic>
        <p:nvPicPr>
          <p:cNvPr id="17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2348389" y="1950482"/>
            <a:ext cx="7235666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146"/>
              </a:lnSpc>
              <a:buNone/>
            </a:pPr>
            <a:r>
              <a:rPr lang="en-US" sz="411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Implementing the OCR Model</a:t>
            </a:r>
            <a:endParaRPr lang="en-US" sz="4117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8389" y="3048238"/>
            <a:ext cx="555427" cy="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48389" y="3825835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Integration</a:t>
            </a:r>
            <a:endParaRPr lang="en-US" sz="2058" dirty="0"/>
          </a:p>
        </p:txBody>
      </p:sp>
      <p:sp>
        <p:nvSpPr>
          <p:cNvPr id="7" name="Text 4"/>
          <p:cNvSpPr/>
          <p:nvPr/>
        </p:nvSpPr>
        <p:spPr>
          <a:xfrm>
            <a:off x="2348389" y="4285893"/>
            <a:ext cx="3088958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Leverage the Tesseract Python API to seamlessly integrate the OCR engine into your application.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602" y="3048238"/>
            <a:ext cx="555427" cy="555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70602" y="3825835"/>
            <a:ext cx="3015972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Learning Approach</a:t>
            </a:r>
            <a:endParaRPr lang="en-US" sz="2058" dirty="0"/>
          </a:p>
        </p:txBody>
      </p:sp>
      <p:sp>
        <p:nvSpPr>
          <p:cNvPr id="10" name="Text 6"/>
          <p:cNvSpPr/>
          <p:nvPr/>
        </p:nvSpPr>
        <p:spPr>
          <a:xfrm>
            <a:off x="5770602" y="4285893"/>
            <a:ext cx="3088958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Explore the use of deep learning techniques, such as Convolutional Neural Networks (CNNs), to further enhance the OCR accuracy for Telugu text.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816" y="3048238"/>
            <a:ext cx="555427" cy="5554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92816" y="3825835"/>
            <a:ext cx="3089077" cy="6536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Performance Optimization</a:t>
            </a:r>
            <a:endParaRPr lang="en-US" sz="2058" dirty="0"/>
          </a:p>
        </p:txBody>
      </p:sp>
      <p:sp>
        <p:nvSpPr>
          <p:cNvPr id="13" name="Text 8"/>
          <p:cNvSpPr/>
          <p:nvPr/>
        </p:nvSpPr>
        <p:spPr>
          <a:xfrm>
            <a:off x="9192816" y="4612719"/>
            <a:ext cx="3089077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 strategies to optimize the OCR model's speed and efficiency, ensuring real-time processing of large volumes of Telugu text.</a:t>
            </a:r>
            <a:endParaRPr lang="en-US" sz="1750" dirty="0"/>
          </a:p>
        </p:txBody>
      </p:sp>
      <p:pic>
        <p:nvPicPr>
          <p:cNvPr id="14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955238"/>
            <a:ext cx="8748713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146"/>
              </a:lnSpc>
              <a:buNone/>
            </a:pPr>
            <a:r>
              <a:rPr lang="en-US" sz="411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Evaluating the Model's Performance</a:t>
            </a:r>
            <a:endParaRPr lang="en-US" sz="4117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99" y="1941909"/>
            <a:ext cx="1110972" cy="1777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77428" y="2164080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Accuracy Metrics</a:t>
            </a:r>
            <a:endParaRPr lang="en-US" sz="2058" dirty="0"/>
          </a:p>
        </p:txBody>
      </p:sp>
      <p:sp>
        <p:nvSpPr>
          <p:cNvPr id="8" name="Text 4"/>
          <p:cNvSpPr/>
          <p:nvPr/>
        </p:nvSpPr>
        <p:spPr>
          <a:xfrm>
            <a:off x="2277428" y="2624137"/>
            <a:ext cx="7862173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Measure the OCR model's performance using standard metrics, such as character error rate (CER) and word error rate (WER).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99" y="3719393"/>
            <a:ext cx="1110972" cy="1777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77428" y="3941564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Human Evaluation</a:t>
            </a:r>
            <a:endParaRPr lang="en-US" sz="2058" dirty="0"/>
          </a:p>
        </p:txBody>
      </p:sp>
      <p:sp>
        <p:nvSpPr>
          <p:cNvPr id="11" name="Text 6"/>
          <p:cNvSpPr/>
          <p:nvPr/>
        </p:nvSpPr>
        <p:spPr>
          <a:xfrm>
            <a:off x="2277428" y="4401622"/>
            <a:ext cx="7862173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Conduct user studies to assess the readability and usability of the extracted Telugu text for real-world applications.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99" y="5496878"/>
            <a:ext cx="1110972" cy="17774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77428" y="5719048"/>
            <a:ext cx="304835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573"/>
              </a:lnSpc>
              <a:buNone/>
            </a:pPr>
            <a:r>
              <a:rPr lang="en-US" sz="205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Benchmark Comparisons</a:t>
            </a:r>
            <a:endParaRPr lang="en-US" sz="2058" dirty="0"/>
          </a:p>
        </p:txBody>
      </p:sp>
      <p:sp>
        <p:nvSpPr>
          <p:cNvPr id="14" name="Text 8"/>
          <p:cNvSpPr/>
          <p:nvPr/>
        </p:nvSpPr>
        <p:spPr>
          <a:xfrm>
            <a:off x="2277428" y="6179106"/>
            <a:ext cx="7862173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Compare the developed OCR model's performance with other state-of-the-art Telugu text extraction solutions.</a:t>
            </a:r>
            <a:endParaRPr lang="en-US" sz="1750" dirty="0"/>
          </a:p>
        </p:txBody>
      </p:sp>
      <p:pic>
        <p:nvPicPr>
          <p:cNvPr id="15" name="Image 4" descr="preencoded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2348389" y="1502807"/>
            <a:ext cx="9188291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146"/>
              </a:lnSpc>
              <a:buNone/>
            </a:pPr>
            <a:r>
              <a:rPr lang="en-US" sz="411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and Future Improvements</a:t>
            </a:r>
            <a:endParaRPr lang="en-US" sz="4117" dirty="0"/>
          </a:p>
        </p:txBody>
      </p:sp>
      <p:sp>
        <p:nvSpPr>
          <p:cNvPr id="5" name="Text 3"/>
          <p:cNvSpPr/>
          <p:nvPr/>
        </p:nvSpPr>
        <p:spPr>
          <a:xfrm>
            <a:off x="2570559" y="2741414"/>
            <a:ext cx="4518541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Key Achievements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1062" y="2741414"/>
            <a:ext cx="4518541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Overcoming Challenges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2348389" y="3215521"/>
            <a:ext cx="9933503" cy="948214"/>
          </a:xfrm>
          <a:prstGeom prst="rect">
            <a:avLst/>
          </a:prstGeom>
          <a:solidFill>
            <a:srgbClr val="363A4A"/>
          </a:solidFill>
          <a:ln/>
        </p:spPr>
      </p:sp>
      <p:sp>
        <p:nvSpPr>
          <p:cNvPr id="8" name="Text 6"/>
          <p:cNvSpPr/>
          <p:nvPr/>
        </p:nvSpPr>
        <p:spPr>
          <a:xfrm>
            <a:off x="2570559" y="3356372"/>
            <a:ext cx="4518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Developed a robust OCR model for Telugu text extraction using Tesseract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1062" y="3356372"/>
            <a:ext cx="4518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Addressed the complexities of the Telugu script and the lack of standardized datasets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570559" y="4304586"/>
            <a:ext cx="4518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Implemented novel preprocessing techniques and deep learning approaches to enhance accuracy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41062" y="4304586"/>
            <a:ext cx="4518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Customized Tesseract's language model and engine parameters for optimal Telugu OCR performance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2348389" y="5445204"/>
            <a:ext cx="9933503" cy="1281470"/>
          </a:xfrm>
          <a:prstGeom prst="rect">
            <a:avLst/>
          </a:prstGeom>
          <a:solidFill>
            <a:srgbClr val="363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570559" y="5586055"/>
            <a:ext cx="4518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Achieved state-of-the-art results in Telugu text recognition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1062" y="5586055"/>
            <a:ext cx="4518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24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Explored ways to further improve the OCR model's speed and efficiency for real-time applications</a:t>
            </a:r>
            <a:endParaRPr lang="en-US" sz="1750" dirty="0"/>
          </a:p>
        </p:txBody>
      </p:sp>
      <p:pic>
        <p:nvPicPr>
          <p:cNvPr id="15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2024-06-19T05:58:50Z</dcterms:created>
  <dcterms:modified xsi:type="dcterms:W3CDTF">2024-06-19T05:58:50Z</dcterms:modified>
</cp:coreProperties>
</file>